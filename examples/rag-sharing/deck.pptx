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本例是原创教学演示，没有实际运行模型或检索服务。技术背景参考 Microsoft RAG 设计与评估指南，引用链接在 source.json。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问题为虚构教学例子。RAG 将检索到的上下文用于生成，不保证检索内容正确或模型一定忠于资料。参考 Microsoft 指南的 RAG application flow。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概括 Microsoft 指南的 data pipeline：分块、增强元信息、向量化与持久化。本图省略具体产品，示意普通 RAG 的资料入库过程。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该流程为普通固定序列 RAG 的简化图，并非所有 RAG 实现都如此。模型生成与来源对应关系仍需检查。没有实测检索质量或回答质量。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Microsoft 指南强调分阶段评估并关注最终用户体验。此处为原创检查表，没有运行评估器、计算指标或给出产品性能结论。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建议来自对 Microsoft 指南的概括，并非完成的实验。没有引用第三方截图、图表、文档正文或字体。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le=slide-title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3600" b="1" lang="zh-CN">
                <a:solidFill>
                  <a:srgbClr val="183040"/>
                </a:solidFill>
                <a:latin typeface="PingFang SC"/>
                <a:ea typeface="PingFang SC"/>
              </a:rPr>
              <a:t>从资料检索到有来源的回答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309360"/>
            <a:ext cx="11064240" cy="0"/>
          </a:xfrm>
          <a:prstGeom prst="line">
            <a:avLst/>
          </a:prstGeom>
          <a:ln>
            <a:solidFill>
              <a:srgbClr val="D5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le=footnote"/>
          <p:cNvSpPr txBox="1"/>
          <p:nvPr/>
        </p:nvSpPr>
        <p:spPr>
          <a:xfrm>
            <a:off x="548640" y="6419088"/>
            <a:ext cx="9144000" cy="2286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0" lang="zh-CN">
                <a:solidFill>
                  <a:srgbClr val="526574"/>
                </a:solidFill>
                <a:latin typeface="PingFang SC"/>
                <a:ea typeface="PingFang SC"/>
              </a:rPr>
              <a:t>RAG 技术分享 · 原创演示案例 · 字体未嵌入</a:t>
            </a:r>
          </a:p>
        </p:txBody>
      </p:sp>
      <p:sp>
        <p:nvSpPr>
          <p:cNvPr id="5" name="role=page-number"/>
          <p:cNvSpPr txBox="1"/>
          <p:nvPr/>
        </p:nvSpPr>
        <p:spPr>
          <a:xfrm>
            <a:off x="10972800" y="6419088"/>
            <a:ext cx="640080" cy="2286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0" lang="zh-CN">
                <a:solidFill>
                  <a:srgbClr val="526574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6" name="role=cover-title"/>
          <p:cNvSpPr txBox="1"/>
          <p:nvPr/>
        </p:nvSpPr>
        <p:spPr>
          <a:xfrm>
            <a:off x="548640" y="1828800"/>
            <a:ext cx="10789920" cy="19202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4800" b="1" lang="zh-CN">
                <a:solidFill>
                  <a:srgbClr val="175BC2"/>
                </a:solidFill>
                <a:latin typeface="PingFang SC"/>
                <a:ea typeface="PingFang SC"/>
              </a:rPr>
              <a:t>RAG 如何连接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4800" b="1" lang="zh-CN">
                <a:solidFill>
                  <a:srgbClr val="175BC2"/>
                </a:solidFill>
                <a:latin typeface="PingFang SC"/>
                <a:ea typeface="PingFang SC"/>
              </a:rPr>
              <a:t>问题、资料与回答</a:t>
            </a:r>
          </a:p>
        </p:txBody>
      </p:sp>
      <p:sp>
        <p:nvSpPr>
          <p:cNvPr id="7" name="role=body"/>
          <p:cNvSpPr txBox="1"/>
          <p:nvPr/>
        </p:nvSpPr>
        <p:spPr>
          <a:xfrm>
            <a:off x="548640" y="4297680"/>
            <a:ext cx="10698480" cy="128016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400" b="0" lang="zh-CN">
                <a:solidFill>
                  <a:srgbClr val="183040"/>
                </a:solidFill>
                <a:latin typeface="PingFang SC"/>
                <a:ea typeface="PingFang SC"/>
              </a:rPr>
              <a:t>开发团队技术分享 · 6 页 / 10 分钟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400" b="0" lang="zh-CN">
                <a:solidFill>
                  <a:srgbClr val="183040"/>
                </a:solidFill>
                <a:latin typeface="PingFang SC"/>
                <a:ea typeface="PingFang SC"/>
              </a:rPr>
              <a:t>讲清两条流程：资料入库与在线回答。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le=slide-title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3600" b="1" lang="zh-CN">
                <a:solidFill>
                  <a:srgbClr val="183040"/>
                </a:solidFill>
                <a:latin typeface="PingFang SC"/>
                <a:ea typeface="PingFang SC"/>
              </a:rPr>
              <a:t>回答前先找到相关资料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309360"/>
            <a:ext cx="11064240" cy="0"/>
          </a:xfrm>
          <a:prstGeom prst="line">
            <a:avLst/>
          </a:prstGeom>
          <a:ln>
            <a:solidFill>
              <a:srgbClr val="D5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le=footnote"/>
          <p:cNvSpPr txBox="1"/>
          <p:nvPr/>
        </p:nvSpPr>
        <p:spPr>
          <a:xfrm>
            <a:off x="548640" y="6419088"/>
            <a:ext cx="9144000" cy="2286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0" lang="zh-CN">
                <a:solidFill>
                  <a:srgbClr val="526574"/>
                </a:solidFill>
                <a:latin typeface="PingFang SC"/>
                <a:ea typeface="PingFang SC"/>
              </a:rPr>
              <a:t>RAG 技术分享 · 原创演示案例 · 字体未嵌入</a:t>
            </a:r>
          </a:p>
        </p:txBody>
      </p:sp>
      <p:sp>
        <p:nvSpPr>
          <p:cNvPr id="5" name="role=page-number"/>
          <p:cNvSpPr txBox="1"/>
          <p:nvPr/>
        </p:nvSpPr>
        <p:spPr>
          <a:xfrm>
            <a:off x="10972800" y="6419088"/>
            <a:ext cx="640080" cy="2286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0" lang="zh-CN">
                <a:solidFill>
                  <a:srgbClr val="526574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6" name="role=key-message"/>
          <p:cNvSpPr txBox="1"/>
          <p:nvPr/>
        </p:nvSpPr>
        <p:spPr>
          <a:xfrm>
            <a:off x="548640" y="1508760"/>
            <a:ext cx="10972800" cy="9144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800" b="0" lang="zh-CN">
                <a:solidFill>
                  <a:srgbClr val="175BC2"/>
                </a:solidFill>
                <a:latin typeface="PingFang SC"/>
                <a:ea typeface="PingFang SC"/>
              </a:rPr>
              <a:t>把检索到的片段与问题一起交给模型</a:t>
            </a:r>
          </a:p>
        </p:txBody>
      </p:sp>
      <p:sp>
        <p:nvSpPr>
          <p:cNvPr id="7" name="role=module-title"/>
          <p:cNvSpPr txBox="1"/>
          <p:nvPr/>
        </p:nvSpPr>
        <p:spPr>
          <a:xfrm>
            <a:off x="548640" y="2743200"/>
            <a:ext cx="2743200" cy="5486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200" b="1" lang="zh-CN">
                <a:solidFill>
                  <a:srgbClr val="183040"/>
                </a:solidFill>
                <a:latin typeface="PingFang SC"/>
                <a:ea typeface="PingFang SC"/>
              </a:rPr>
              <a:t>问题</a:t>
            </a:r>
          </a:p>
        </p:txBody>
      </p:sp>
      <p:sp>
        <p:nvSpPr>
          <p:cNvPr id="8" name="role=body"/>
          <p:cNvSpPr txBox="1"/>
          <p:nvPr/>
        </p:nvSpPr>
        <p:spPr>
          <a:xfrm>
            <a:off x="3566160" y="2743200"/>
            <a:ext cx="8046720" cy="7772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200" b="0" lang="zh-CN">
                <a:solidFill>
                  <a:srgbClr val="183040"/>
                </a:solidFill>
                <a:latin typeface="PingFang SC"/>
                <a:ea typeface="PingFang SC"/>
              </a:rPr>
              <a:t>例如：新同事在哪里查看报销流程？</a:t>
            </a:r>
          </a:p>
        </p:txBody>
      </p:sp>
      <p:sp>
        <p:nvSpPr>
          <p:cNvPr id="9" name="role=module-title"/>
          <p:cNvSpPr txBox="1"/>
          <p:nvPr/>
        </p:nvSpPr>
        <p:spPr>
          <a:xfrm>
            <a:off x="548640" y="3794760"/>
            <a:ext cx="2743200" cy="5486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200" b="1" lang="zh-CN">
                <a:solidFill>
                  <a:srgbClr val="183040"/>
                </a:solidFill>
                <a:latin typeface="PingFang SC"/>
                <a:ea typeface="PingFang SC"/>
              </a:rPr>
              <a:t>上下文</a:t>
            </a:r>
          </a:p>
        </p:txBody>
      </p:sp>
      <p:sp>
        <p:nvSpPr>
          <p:cNvPr id="10" name="role=body"/>
          <p:cNvSpPr txBox="1"/>
          <p:nvPr/>
        </p:nvSpPr>
        <p:spPr>
          <a:xfrm>
            <a:off x="3566160" y="3794760"/>
            <a:ext cx="8046720" cy="7772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200" b="0" lang="zh-CN">
                <a:solidFill>
                  <a:srgbClr val="183040"/>
                </a:solidFill>
                <a:latin typeface="PingFang SC"/>
                <a:ea typeface="PingFang SC"/>
              </a:rPr>
              <a:t>从允许访问的资料中检索相关片段。</a:t>
            </a:r>
          </a:p>
        </p:txBody>
      </p:sp>
      <p:sp>
        <p:nvSpPr>
          <p:cNvPr id="11" name="role=module-title"/>
          <p:cNvSpPr txBox="1"/>
          <p:nvPr/>
        </p:nvSpPr>
        <p:spPr>
          <a:xfrm>
            <a:off x="548640" y="4846320"/>
            <a:ext cx="2743200" cy="5486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200" b="1" lang="zh-CN">
                <a:solidFill>
                  <a:srgbClr val="183040"/>
                </a:solidFill>
                <a:latin typeface="PingFang SC"/>
                <a:ea typeface="PingFang SC"/>
              </a:rPr>
              <a:t>回答</a:t>
            </a:r>
          </a:p>
        </p:txBody>
      </p:sp>
      <p:sp>
        <p:nvSpPr>
          <p:cNvPr id="12" name="role=body"/>
          <p:cNvSpPr txBox="1"/>
          <p:nvPr/>
        </p:nvSpPr>
        <p:spPr>
          <a:xfrm>
            <a:off x="3566160" y="4846320"/>
            <a:ext cx="8046720" cy="7772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200" b="0" lang="zh-CN">
                <a:solidFill>
                  <a:srgbClr val="183040"/>
                </a:solidFill>
                <a:latin typeface="PingFang SC"/>
                <a:ea typeface="PingFang SC"/>
              </a:rPr>
              <a:t>结合上下文生成回答，并保留可核对的来源。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le=slide-title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3600" b="1" lang="zh-CN">
                <a:solidFill>
                  <a:srgbClr val="183040"/>
                </a:solidFill>
                <a:latin typeface="PingFang SC"/>
                <a:ea typeface="PingFang SC"/>
              </a:rPr>
              <a:t>资料入库先保留可追溯信息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309360"/>
            <a:ext cx="11064240" cy="0"/>
          </a:xfrm>
          <a:prstGeom prst="line">
            <a:avLst/>
          </a:prstGeom>
          <a:ln>
            <a:solidFill>
              <a:srgbClr val="D5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le=footnote"/>
          <p:cNvSpPr txBox="1"/>
          <p:nvPr/>
        </p:nvSpPr>
        <p:spPr>
          <a:xfrm>
            <a:off x="548640" y="6419088"/>
            <a:ext cx="9144000" cy="2286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0" lang="zh-CN">
                <a:solidFill>
                  <a:srgbClr val="526574"/>
                </a:solidFill>
                <a:latin typeface="PingFang SC"/>
                <a:ea typeface="PingFang SC"/>
              </a:rPr>
              <a:t>RAG 技术分享 · 原创演示案例 · 字体未嵌入</a:t>
            </a:r>
          </a:p>
        </p:txBody>
      </p:sp>
      <p:sp>
        <p:nvSpPr>
          <p:cNvPr id="5" name="role=page-number"/>
          <p:cNvSpPr txBox="1"/>
          <p:nvPr/>
        </p:nvSpPr>
        <p:spPr>
          <a:xfrm>
            <a:off x="10972800" y="6419088"/>
            <a:ext cx="640080" cy="2286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0" lang="zh-CN">
                <a:solidFill>
                  <a:srgbClr val="526574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6" name="role=key-message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400" b="0" lang="zh-CN">
                <a:solidFill>
                  <a:srgbClr val="175BC2"/>
                </a:solidFill>
                <a:latin typeface="PingFang SC"/>
                <a:ea typeface="PingFang SC"/>
              </a:rPr>
              <a:t>内容处理与索引构建属于离线流程</a:t>
            </a:r>
          </a:p>
        </p:txBody>
      </p:sp>
      <p:sp>
        <p:nvSpPr>
          <p:cNvPr id="7" name="role=node;group=flow;index=0"/>
          <p:cNvSpPr/>
          <p:nvPr/>
        </p:nvSpPr>
        <p:spPr>
          <a:xfrm>
            <a:off x="548640" y="2423160"/>
            <a:ext cx="2457450" cy="1005840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le=diagram-node"/>
          <p:cNvSpPr txBox="1"/>
          <p:nvPr/>
        </p:nvSpPr>
        <p:spPr>
          <a:xfrm>
            <a:off x="640080" y="2624328"/>
            <a:ext cx="2274570" cy="5486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 lang="zh-CN">
                <a:solidFill>
                  <a:srgbClr val="175BC2"/>
                </a:solidFill>
                <a:latin typeface="PingFang SC"/>
                <a:ea typeface="PingFang SC"/>
              </a:rPr>
              <a:t>读取文档</a:t>
            </a:r>
          </a:p>
        </p:txBody>
      </p:sp>
      <p:sp>
        <p:nvSpPr>
          <p:cNvPr id="9" name="role=node;group=flow;index=1"/>
          <p:cNvSpPr/>
          <p:nvPr/>
        </p:nvSpPr>
        <p:spPr>
          <a:xfrm>
            <a:off x="3417570" y="2423160"/>
            <a:ext cx="2457450" cy="1005840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le=diagram-node"/>
          <p:cNvSpPr txBox="1"/>
          <p:nvPr/>
        </p:nvSpPr>
        <p:spPr>
          <a:xfrm>
            <a:off x="3509010" y="2624328"/>
            <a:ext cx="2274570" cy="5486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 lang="zh-CN">
                <a:solidFill>
                  <a:srgbClr val="175BC2"/>
                </a:solidFill>
                <a:latin typeface="PingFang SC"/>
                <a:ea typeface="PingFang SC"/>
              </a:rPr>
              <a:t>切分片段</a:t>
            </a:r>
          </a:p>
        </p:txBody>
      </p:sp>
      <p:cxnSp>
        <p:nvCxnSpPr>
          <p:cNvPr id="11" name="role=connector;group=flow"/>
          <p:cNvCxnSpPr/>
          <p:nvPr/>
        </p:nvCxnSpPr>
        <p:spPr>
          <a:xfrm>
            <a:off x="3006090" y="2926080"/>
            <a:ext cx="411480" cy="0"/>
          </a:xfrm>
          <a:prstGeom prst="line">
            <a:avLst/>
          </a:prstGeom>
          <a:ln>
            <a:solidFill>
              <a:srgbClr val="175BC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le=node;group=flow;index=2"/>
          <p:cNvSpPr/>
          <p:nvPr/>
        </p:nvSpPr>
        <p:spPr>
          <a:xfrm>
            <a:off x="6286500" y="2423160"/>
            <a:ext cx="2457450" cy="1005840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le=diagram-node"/>
          <p:cNvSpPr txBox="1"/>
          <p:nvPr/>
        </p:nvSpPr>
        <p:spPr>
          <a:xfrm>
            <a:off x="6377940" y="2624328"/>
            <a:ext cx="2274570" cy="5486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 lang="zh-CN">
                <a:solidFill>
                  <a:srgbClr val="175BC2"/>
                </a:solidFill>
                <a:latin typeface="PingFang SC"/>
                <a:ea typeface="PingFang SC"/>
              </a:rPr>
              <a:t>附加元信息</a:t>
            </a:r>
          </a:p>
        </p:txBody>
      </p:sp>
      <p:cxnSp>
        <p:nvCxnSpPr>
          <p:cNvPr id="14" name="role=connector;group=flow"/>
          <p:cNvCxnSpPr/>
          <p:nvPr/>
        </p:nvCxnSpPr>
        <p:spPr>
          <a:xfrm>
            <a:off x="5875020" y="2926080"/>
            <a:ext cx="411480" cy="0"/>
          </a:xfrm>
          <a:prstGeom prst="line">
            <a:avLst/>
          </a:prstGeom>
          <a:ln>
            <a:solidFill>
              <a:srgbClr val="175BC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le=node;group=flow;index=3"/>
          <p:cNvSpPr/>
          <p:nvPr/>
        </p:nvSpPr>
        <p:spPr>
          <a:xfrm>
            <a:off x="9155430" y="2423160"/>
            <a:ext cx="2457450" cy="1005840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le=diagram-node"/>
          <p:cNvSpPr txBox="1"/>
          <p:nvPr/>
        </p:nvSpPr>
        <p:spPr>
          <a:xfrm>
            <a:off x="9246870" y="2624328"/>
            <a:ext cx="2274570" cy="5486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 lang="zh-CN">
                <a:solidFill>
                  <a:srgbClr val="175BC2"/>
                </a:solidFill>
                <a:latin typeface="PingFang SC"/>
                <a:ea typeface="PingFang SC"/>
              </a:rPr>
              <a:t>建立索引</a:t>
            </a:r>
          </a:p>
        </p:txBody>
      </p:sp>
      <p:cxnSp>
        <p:nvCxnSpPr>
          <p:cNvPr id="17" name="role=connector;group=flow"/>
          <p:cNvCxnSpPr/>
          <p:nvPr/>
        </p:nvCxnSpPr>
        <p:spPr>
          <a:xfrm>
            <a:off x="8743950" y="2926080"/>
            <a:ext cx="411480" cy="0"/>
          </a:xfrm>
          <a:prstGeom prst="line">
            <a:avLst/>
          </a:prstGeom>
          <a:ln>
            <a:solidFill>
              <a:srgbClr val="175BC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le=body"/>
          <p:cNvSpPr txBox="1"/>
          <p:nvPr/>
        </p:nvSpPr>
        <p:spPr>
          <a:xfrm>
            <a:off x="548640" y="3977639"/>
            <a:ext cx="10972800" cy="155448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400" b="0" lang="zh-CN">
                <a:solidFill>
                  <a:srgbClr val="183040"/>
                </a:solidFill>
                <a:latin typeface="PingFang SC"/>
                <a:ea typeface="PingFang SC"/>
              </a:rPr>
              <a:t>每个片段保留来源、版本和定位信息。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400" b="0" lang="zh-CN">
                <a:solidFill>
                  <a:srgbClr val="183040"/>
                </a:solidFill>
                <a:latin typeface="PingFang SC"/>
                <a:ea typeface="PingFang SC"/>
              </a:rPr>
              <a:t>向量化可支持向量检索；检索方式按任务选用。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le=slide-title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3600" b="1" lang="zh-CN">
                <a:solidFill>
                  <a:srgbClr val="183040"/>
                </a:solidFill>
                <a:latin typeface="PingFang SC"/>
                <a:ea typeface="PingFang SC"/>
              </a:rPr>
              <a:t>在线流程把证据放进上下文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309360"/>
            <a:ext cx="11064240" cy="0"/>
          </a:xfrm>
          <a:prstGeom prst="line">
            <a:avLst/>
          </a:prstGeom>
          <a:ln>
            <a:solidFill>
              <a:srgbClr val="D5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le=footnote"/>
          <p:cNvSpPr txBox="1"/>
          <p:nvPr/>
        </p:nvSpPr>
        <p:spPr>
          <a:xfrm>
            <a:off x="548640" y="6419088"/>
            <a:ext cx="9144000" cy="2286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0" lang="zh-CN">
                <a:solidFill>
                  <a:srgbClr val="526574"/>
                </a:solidFill>
                <a:latin typeface="PingFang SC"/>
                <a:ea typeface="PingFang SC"/>
              </a:rPr>
              <a:t>RAG 技术分享 · 原创演示案例 · 字体未嵌入</a:t>
            </a:r>
          </a:p>
        </p:txBody>
      </p:sp>
      <p:sp>
        <p:nvSpPr>
          <p:cNvPr id="5" name="role=page-number"/>
          <p:cNvSpPr txBox="1"/>
          <p:nvPr/>
        </p:nvSpPr>
        <p:spPr>
          <a:xfrm>
            <a:off x="10972800" y="6419088"/>
            <a:ext cx="640080" cy="2286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0" lang="zh-CN">
                <a:solidFill>
                  <a:srgbClr val="526574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6" name="role=key-message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400" b="0" lang="zh-CN">
                <a:solidFill>
                  <a:srgbClr val="175BC2"/>
                </a:solidFill>
                <a:latin typeface="PingFang SC"/>
                <a:ea typeface="PingFang SC"/>
              </a:rPr>
              <a:t>普通 RAG 可以沿固定步骤完成一次问答</a:t>
            </a:r>
          </a:p>
        </p:txBody>
      </p:sp>
      <p:sp>
        <p:nvSpPr>
          <p:cNvPr id="7" name="role=node;group=flow;index=0"/>
          <p:cNvSpPr/>
          <p:nvPr/>
        </p:nvSpPr>
        <p:spPr>
          <a:xfrm>
            <a:off x="548640" y="2423160"/>
            <a:ext cx="2457450" cy="1005840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le=diagram-node"/>
          <p:cNvSpPr txBox="1"/>
          <p:nvPr/>
        </p:nvSpPr>
        <p:spPr>
          <a:xfrm>
            <a:off x="640080" y="2624328"/>
            <a:ext cx="2274570" cy="5486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 lang="zh-CN">
                <a:solidFill>
                  <a:srgbClr val="175BC2"/>
                </a:solidFill>
                <a:latin typeface="PingFang SC"/>
                <a:ea typeface="PingFang SC"/>
              </a:rPr>
              <a:t>用户提问</a:t>
            </a:r>
          </a:p>
        </p:txBody>
      </p:sp>
      <p:sp>
        <p:nvSpPr>
          <p:cNvPr id="9" name="role=node;group=flow;index=1"/>
          <p:cNvSpPr/>
          <p:nvPr/>
        </p:nvSpPr>
        <p:spPr>
          <a:xfrm>
            <a:off x="3417570" y="2423160"/>
            <a:ext cx="2457450" cy="1005840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le=diagram-node"/>
          <p:cNvSpPr txBox="1"/>
          <p:nvPr/>
        </p:nvSpPr>
        <p:spPr>
          <a:xfrm>
            <a:off x="3509010" y="2624328"/>
            <a:ext cx="2274570" cy="5486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 lang="zh-CN">
                <a:solidFill>
                  <a:srgbClr val="175BC2"/>
                </a:solidFill>
                <a:latin typeface="PingFang SC"/>
                <a:ea typeface="PingFang SC"/>
              </a:rPr>
              <a:t>检索资料</a:t>
            </a:r>
          </a:p>
        </p:txBody>
      </p:sp>
      <p:cxnSp>
        <p:nvCxnSpPr>
          <p:cNvPr id="11" name="role=connector;group=flow"/>
          <p:cNvCxnSpPr/>
          <p:nvPr/>
        </p:nvCxnSpPr>
        <p:spPr>
          <a:xfrm>
            <a:off x="3006090" y="2926080"/>
            <a:ext cx="411480" cy="0"/>
          </a:xfrm>
          <a:prstGeom prst="line">
            <a:avLst/>
          </a:prstGeom>
          <a:ln>
            <a:solidFill>
              <a:srgbClr val="175BC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le=node;group=flow;index=2"/>
          <p:cNvSpPr/>
          <p:nvPr/>
        </p:nvSpPr>
        <p:spPr>
          <a:xfrm>
            <a:off x="6286500" y="2423160"/>
            <a:ext cx="2457450" cy="1005840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le=diagram-node"/>
          <p:cNvSpPr txBox="1"/>
          <p:nvPr/>
        </p:nvSpPr>
        <p:spPr>
          <a:xfrm>
            <a:off x="6377940" y="2624328"/>
            <a:ext cx="2274570" cy="5486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 lang="zh-CN">
                <a:solidFill>
                  <a:srgbClr val="175BC2"/>
                </a:solidFill>
                <a:latin typeface="PingFang SC"/>
                <a:ea typeface="PingFang SC"/>
              </a:rPr>
              <a:t>组装上下文</a:t>
            </a:r>
          </a:p>
        </p:txBody>
      </p:sp>
      <p:cxnSp>
        <p:nvCxnSpPr>
          <p:cNvPr id="14" name="role=connector;group=flow"/>
          <p:cNvCxnSpPr/>
          <p:nvPr/>
        </p:nvCxnSpPr>
        <p:spPr>
          <a:xfrm>
            <a:off x="5875020" y="2926080"/>
            <a:ext cx="411480" cy="0"/>
          </a:xfrm>
          <a:prstGeom prst="line">
            <a:avLst/>
          </a:prstGeom>
          <a:ln>
            <a:solidFill>
              <a:srgbClr val="175BC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le=node;group=flow;index=3"/>
          <p:cNvSpPr/>
          <p:nvPr/>
        </p:nvSpPr>
        <p:spPr>
          <a:xfrm>
            <a:off x="9155430" y="2423160"/>
            <a:ext cx="2457450" cy="1005840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le=diagram-node"/>
          <p:cNvSpPr txBox="1"/>
          <p:nvPr/>
        </p:nvSpPr>
        <p:spPr>
          <a:xfrm>
            <a:off x="9246870" y="2624328"/>
            <a:ext cx="2274570" cy="5486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 lang="zh-CN">
                <a:solidFill>
                  <a:srgbClr val="175BC2"/>
                </a:solidFill>
                <a:latin typeface="PingFang SC"/>
                <a:ea typeface="PingFang SC"/>
              </a:rPr>
              <a:t>生成回答</a:t>
            </a:r>
          </a:p>
        </p:txBody>
      </p:sp>
      <p:cxnSp>
        <p:nvCxnSpPr>
          <p:cNvPr id="17" name="role=connector;group=flow"/>
          <p:cNvCxnSpPr/>
          <p:nvPr/>
        </p:nvCxnSpPr>
        <p:spPr>
          <a:xfrm>
            <a:off x="8743950" y="2926080"/>
            <a:ext cx="411480" cy="0"/>
          </a:xfrm>
          <a:prstGeom prst="line">
            <a:avLst/>
          </a:prstGeom>
          <a:ln>
            <a:solidFill>
              <a:srgbClr val="175BC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le=body"/>
          <p:cNvSpPr txBox="1"/>
          <p:nvPr/>
        </p:nvSpPr>
        <p:spPr>
          <a:xfrm>
            <a:off x="548640" y="3977639"/>
            <a:ext cx="10972800" cy="155448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400" b="0" lang="zh-CN">
                <a:solidFill>
                  <a:srgbClr val="183040"/>
                </a:solidFill>
                <a:latin typeface="PingFang SC"/>
                <a:ea typeface="PingFang SC"/>
              </a:rPr>
              <a:t>资料缺失或冲突时，说明不足并提供可核对的出处。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400" b="0" lang="zh-CN">
                <a:solidFill>
                  <a:srgbClr val="183040"/>
                </a:solidFill>
                <a:latin typeface="PingFang SC"/>
                <a:ea typeface="PingFang SC"/>
              </a:rPr>
              <a:t>引用是检查入口，仍要核对回答与原文是否一致。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le=slide-title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3600" b="1" lang="zh-CN">
                <a:solidFill>
                  <a:srgbClr val="183040"/>
                </a:solidFill>
                <a:latin typeface="PingFang SC"/>
                <a:ea typeface="PingFang SC"/>
              </a:rPr>
              <a:t>把检索与回答分开检查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309360"/>
            <a:ext cx="11064240" cy="0"/>
          </a:xfrm>
          <a:prstGeom prst="line">
            <a:avLst/>
          </a:prstGeom>
          <a:ln>
            <a:solidFill>
              <a:srgbClr val="D5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le=footnote"/>
          <p:cNvSpPr txBox="1"/>
          <p:nvPr/>
        </p:nvSpPr>
        <p:spPr>
          <a:xfrm>
            <a:off x="548640" y="6419088"/>
            <a:ext cx="9144000" cy="2286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0" lang="zh-CN">
                <a:solidFill>
                  <a:srgbClr val="526574"/>
                </a:solidFill>
                <a:latin typeface="PingFang SC"/>
                <a:ea typeface="PingFang SC"/>
              </a:rPr>
              <a:t>RAG 技术分享 · 原创演示案例 · 字体未嵌入</a:t>
            </a:r>
          </a:p>
        </p:txBody>
      </p:sp>
      <p:sp>
        <p:nvSpPr>
          <p:cNvPr id="5" name="role=page-number"/>
          <p:cNvSpPr txBox="1"/>
          <p:nvPr/>
        </p:nvSpPr>
        <p:spPr>
          <a:xfrm>
            <a:off x="10972800" y="6419088"/>
            <a:ext cx="640080" cy="2286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0" lang="zh-CN">
                <a:solidFill>
                  <a:srgbClr val="526574"/>
                </a:solidFill>
                <a:latin typeface="PingFang SC"/>
                <a:ea typeface="PingFang SC"/>
              </a:rPr>
              <a:t>5</a:t>
            </a:r>
          </a:p>
        </p:txBody>
      </p:sp>
      <p:sp>
        <p:nvSpPr>
          <p:cNvPr id="6" name="role=key-message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400" b="0" lang="zh-CN">
                <a:solidFill>
                  <a:srgbClr val="175BC2"/>
                </a:solidFill>
                <a:latin typeface="PingFang SC"/>
                <a:ea typeface="PingFang SC"/>
              </a:rPr>
              <a:t>一次回答不佳，可能在不同环节发生</a:t>
            </a:r>
          </a:p>
        </p:txBody>
      </p:sp>
      <p:graphicFrame>
        <p:nvGraphicFramePr>
          <p:cNvPr id="7" name="role=table"/>
          <p:cNvGraphicFramePr>
            <a:graphicFrameLocks noGrp="1"/>
          </p:cNvGraphicFramePr>
          <p:nvPr/>
        </p:nvGraphicFramePr>
        <p:xfrm>
          <a:off x="548640" y="192024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800100">
                <a:tc>
                  <a:txBody>
                    <a:bodyPr/>
                    <a:lstStyle/>
                    <a:p>
                      <a:r>
                        <a:rPr sz="20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环节</a:t>
                      </a:r>
                    </a:p>
                  </a:txBody>
                  <a:tcPr marL="164592" marT="128016">
                    <a:solidFill>
                      <a:srgbClr val="175BC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要检查的问题</a:t>
                      </a:r>
                    </a:p>
                  </a:txBody>
                  <a:tcPr marL="164592" marT="128016">
                    <a:solidFill>
                      <a:srgbClr val="175BC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建议记录</a:t>
                      </a:r>
                    </a:p>
                  </a:txBody>
                  <a:tcPr marL="164592" marT="128016">
                    <a:solidFill>
                      <a:srgbClr val="175BC2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000" b="0" lang="zh-CN">
                          <a:solidFill>
                            <a:srgbClr val="183040"/>
                          </a:solidFill>
                          <a:latin typeface="PingFang SC"/>
                          <a:ea typeface="PingFang SC"/>
                        </a:rPr>
                        <a:t>检索</a:t>
                      </a:r>
                    </a:p>
                  </a:txBody>
                  <a:tcPr marL="164592" marT="128016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zh-CN">
                          <a:solidFill>
                            <a:srgbClr val="183040"/>
                          </a:solidFill>
                          <a:latin typeface="PingFang SC"/>
                          <a:ea typeface="PingFang SC"/>
                        </a:rPr>
                        <a:t>是否找到所需片段？</a:t>
                      </a:r>
                    </a:p>
                  </a:txBody>
                  <a:tcPr marL="164592" marT="128016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zh-CN">
                          <a:solidFill>
                            <a:srgbClr val="183040"/>
                          </a:solidFill>
                          <a:latin typeface="PingFang SC"/>
                          <a:ea typeface="PingFang SC"/>
                        </a:rPr>
                        <a:t>问题与候选片段</a:t>
                      </a:r>
                    </a:p>
                  </a:txBody>
                  <a:tcPr marL="164592" marT="128016">
                    <a:solidFill>
                      <a:srgbClr val="EEF4FA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000" b="0" lang="zh-CN">
                          <a:solidFill>
                            <a:srgbClr val="183040"/>
                          </a:solidFill>
                          <a:latin typeface="PingFang SC"/>
                          <a:ea typeface="PingFang SC"/>
                        </a:rPr>
                        <a:t>生成</a:t>
                      </a:r>
                    </a:p>
                  </a:txBody>
                  <a:tcPr marL="164592" marT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zh-CN">
                          <a:solidFill>
                            <a:srgbClr val="183040"/>
                          </a:solidFill>
                          <a:latin typeface="PingFang SC"/>
                          <a:ea typeface="PingFang SC"/>
                        </a:rPr>
                        <a:t>回答是否由资料支持？</a:t>
                      </a:r>
                    </a:p>
                  </a:txBody>
                  <a:tcPr marL="164592" marT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zh-CN">
                          <a:solidFill>
                            <a:srgbClr val="183040"/>
                          </a:solidFill>
                          <a:latin typeface="PingFang SC"/>
                          <a:ea typeface="PingFang SC"/>
                        </a:rPr>
                        <a:t>回答、上下文与引用</a:t>
                      </a:r>
                    </a:p>
                  </a:txBody>
                  <a:tcPr marL="164592" marT="128016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000" b="0" lang="zh-CN">
                          <a:solidFill>
                            <a:srgbClr val="183040"/>
                          </a:solidFill>
                          <a:latin typeface="PingFang SC"/>
                          <a:ea typeface="PingFang SC"/>
                        </a:rPr>
                        <a:t>端到端</a:t>
                      </a:r>
                    </a:p>
                  </a:txBody>
                  <a:tcPr marL="164592" marT="128016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zh-CN">
                          <a:solidFill>
                            <a:srgbClr val="183040"/>
                          </a:solidFill>
                          <a:latin typeface="PingFang SC"/>
                          <a:ea typeface="PingFang SC"/>
                        </a:rPr>
                        <a:t>用户能否完成任务？</a:t>
                      </a:r>
                    </a:p>
                  </a:txBody>
                  <a:tcPr marL="164592" marT="128016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zh-CN">
                          <a:solidFill>
                            <a:srgbClr val="183040"/>
                          </a:solidFill>
                          <a:latin typeface="PingFang SC"/>
                          <a:ea typeface="PingFang SC"/>
                        </a:rPr>
                        <a:t>结果与失败原因</a:t>
                      </a:r>
                    </a:p>
                  </a:txBody>
                  <a:tcPr marL="164592" marT="128016"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  <p:sp>
        <p:nvSpPr>
          <p:cNvPr id="8" name="role=body"/>
          <p:cNvSpPr txBox="1"/>
          <p:nvPr/>
        </p:nvSpPr>
        <p:spPr>
          <a:xfrm>
            <a:off x="548640" y="5394960"/>
            <a:ext cx="10972800" cy="5486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0" lang="zh-CN">
                <a:solidFill>
                  <a:srgbClr val="526574"/>
                </a:solidFill>
                <a:latin typeface="PingFang SC"/>
                <a:ea typeface="PingFang SC"/>
              </a:rPr>
              <a:t>表格是一份评估计划；没有填入未经测量的分数。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le=slide-title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3600" b="1" lang="zh-CN">
                <a:solidFill>
                  <a:srgbClr val="183040"/>
                </a:solidFill>
                <a:latin typeface="PingFang SC"/>
                <a:ea typeface="PingFang SC"/>
              </a:rPr>
              <a:t>先用小样本定位问题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309360"/>
            <a:ext cx="11064240" cy="0"/>
          </a:xfrm>
          <a:prstGeom prst="line">
            <a:avLst/>
          </a:prstGeom>
          <a:ln>
            <a:solidFill>
              <a:srgbClr val="D5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le=footnote"/>
          <p:cNvSpPr txBox="1"/>
          <p:nvPr/>
        </p:nvSpPr>
        <p:spPr>
          <a:xfrm>
            <a:off x="548640" y="6419088"/>
            <a:ext cx="9144000" cy="2286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0" lang="zh-CN">
                <a:solidFill>
                  <a:srgbClr val="526574"/>
                </a:solidFill>
                <a:latin typeface="PingFang SC"/>
                <a:ea typeface="PingFang SC"/>
              </a:rPr>
              <a:t>RAG 技术分享 · 原创演示案例 · 字体未嵌入</a:t>
            </a:r>
          </a:p>
        </p:txBody>
      </p:sp>
      <p:sp>
        <p:nvSpPr>
          <p:cNvPr id="5" name="role=page-number"/>
          <p:cNvSpPr txBox="1"/>
          <p:nvPr/>
        </p:nvSpPr>
        <p:spPr>
          <a:xfrm>
            <a:off x="10972800" y="6419088"/>
            <a:ext cx="640080" cy="2286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0" lang="zh-CN">
                <a:solidFill>
                  <a:srgbClr val="526574"/>
                </a:solidFill>
                <a:latin typeface="PingFang SC"/>
                <a:ea typeface="PingFang SC"/>
              </a:rPr>
              <a:t>6</a:t>
            </a:r>
          </a:p>
        </p:txBody>
      </p:sp>
      <p:sp>
        <p:nvSpPr>
          <p:cNvPr id="6" name="role=key-message"/>
          <p:cNvSpPr txBox="1"/>
          <p:nvPr/>
        </p:nvSpPr>
        <p:spPr>
          <a:xfrm>
            <a:off x="548640" y="1508760"/>
            <a:ext cx="10972800" cy="9144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800" b="0" lang="zh-CN">
                <a:solidFill>
                  <a:srgbClr val="175BC2"/>
                </a:solidFill>
                <a:latin typeface="PingFang SC"/>
                <a:ea typeface="PingFang SC"/>
              </a:rPr>
              <a:t>固定资料和问题，再比较修改结果</a:t>
            </a:r>
          </a:p>
        </p:txBody>
      </p:sp>
      <p:sp>
        <p:nvSpPr>
          <p:cNvPr id="7" name="role=module-title"/>
          <p:cNvSpPr txBox="1"/>
          <p:nvPr/>
        </p:nvSpPr>
        <p:spPr>
          <a:xfrm>
            <a:off x="548640" y="2743200"/>
            <a:ext cx="2743200" cy="5486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200" b="1" lang="zh-CN">
                <a:solidFill>
                  <a:srgbClr val="183040"/>
                </a:solidFill>
                <a:latin typeface="PingFang SC"/>
                <a:ea typeface="PingFang SC"/>
              </a:rPr>
              <a:t>准备</a:t>
            </a:r>
          </a:p>
        </p:txBody>
      </p:sp>
      <p:sp>
        <p:nvSpPr>
          <p:cNvPr id="8" name="role=body"/>
          <p:cNvSpPr txBox="1"/>
          <p:nvPr/>
        </p:nvSpPr>
        <p:spPr>
          <a:xfrm>
            <a:off x="3566160" y="2743200"/>
            <a:ext cx="8046720" cy="7772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200" b="0" lang="zh-CN">
                <a:solidFill>
                  <a:srgbClr val="183040"/>
                </a:solidFill>
                <a:latin typeface="PingFang SC"/>
                <a:ea typeface="PingFang SC"/>
              </a:rPr>
              <a:t>选代表性文档，包含能回答与资料未覆盖的问题。</a:t>
            </a:r>
          </a:p>
        </p:txBody>
      </p:sp>
      <p:sp>
        <p:nvSpPr>
          <p:cNvPr id="9" name="role=module-title"/>
          <p:cNvSpPr txBox="1"/>
          <p:nvPr/>
        </p:nvSpPr>
        <p:spPr>
          <a:xfrm>
            <a:off x="548640" y="3794760"/>
            <a:ext cx="2743200" cy="5486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200" b="1" lang="zh-CN">
                <a:solidFill>
                  <a:srgbClr val="183040"/>
                </a:solidFill>
                <a:latin typeface="PingFang SC"/>
                <a:ea typeface="PingFang SC"/>
              </a:rPr>
              <a:t>记录</a:t>
            </a:r>
          </a:p>
        </p:txBody>
      </p:sp>
      <p:sp>
        <p:nvSpPr>
          <p:cNvPr id="10" name="role=body"/>
          <p:cNvSpPr txBox="1"/>
          <p:nvPr/>
        </p:nvSpPr>
        <p:spPr>
          <a:xfrm>
            <a:off x="3566160" y="3794760"/>
            <a:ext cx="8046720" cy="7772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200" b="0" lang="zh-CN">
                <a:solidFill>
                  <a:srgbClr val="183040"/>
                </a:solidFill>
                <a:latin typeface="PingFang SC"/>
                <a:ea typeface="PingFang SC"/>
              </a:rPr>
              <a:t>保留检索片段、参数、回答和人工核对结果。</a:t>
            </a:r>
          </a:p>
        </p:txBody>
      </p:sp>
      <p:sp>
        <p:nvSpPr>
          <p:cNvPr id="11" name="role=module-title"/>
          <p:cNvSpPr txBox="1"/>
          <p:nvPr/>
        </p:nvSpPr>
        <p:spPr>
          <a:xfrm>
            <a:off x="548640" y="4846320"/>
            <a:ext cx="2743200" cy="5486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200" b="1" lang="zh-CN">
                <a:solidFill>
                  <a:srgbClr val="183040"/>
                </a:solidFill>
                <a:latin typeface="PingFang SC"/>
                <a:ea typeface="PingFang SC"/>
              </a:rPr>
              <a:t>迭代</a:t>
            </a:r>
          </a:p>
        </p:txBody>
      </p:sp>
      <p:sp>
        <p:nvSpPr>
          <p:cNvPr id="12" name="role=body"/>
          <p:cNvSpPr txBox="1"/>
          <p:nvPr/>
        </p:nvSpPr>
        <p:spPr>
          <a:xfrm>
            <a:off x="3566160" y="4846320"/>
            <a:ext cx="8046720" cy="7772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200" b="0" lang="zh-CN">
                <a:solidFill>
                  <a:srgbClr val="183040"/>
                </a:solidFill>
                <a:latin typeface="PingFang SC"/>
                <a:ea typeface="PingFang SC"/>
              </a:rPr>
              <a:t>一次修改一个主要变量，观察失败发生在哪个环节。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