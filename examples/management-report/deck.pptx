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查找结果占比</c:v>
                </c:pt>
              </c:strCache>
            </c:strRef>
          </c:tx>
          <c:spPr>
            <a:solidFill>
              <a:srgbClr val="175BC2"/>
            </a:solidFill>
          </c:spPr>
          <c:cat>
            <c:strRef>
              <c:f>Sheet1!$A$2:$A$3</c:f>
              <c:strCache>
                <c:ptCount val="2"/>
                <c:pt idx="0">
                  <c:v>找到可用答案</c:v>
                </c:pt>
                <c:pt idx="1">
                  <c:v>没有找到答案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0.65</c:v>
                </c:pt>
                <c:pt idx="1">
                  <c:v>0.35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majorGridlines/>
        <c:numFmt formatCode="0%" sourceLinked="0"/>
        <c:majorTickMark val="out"/>
        <c:minorTickMark val="none"/>
        <c:tickLblPos val="nextTo"/>
        <c:txPr>
          <a:bodyPr/>
          <a:lstStyle/>
          <a:p>
            <a:pPr>
              <a:defRPr sz="1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PingFang SC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本例演示资料到管理层汇报的结构化方式。团队规模、样本和比例均为虚构演示数据；不代表实际项目观察。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这是一个提案，不是已经运行的业务。两周试点用于识别资料和流程问题，而不是证明长期收益。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图表与比例由同一份演示数据产生。样本不是实测数据，也不能据此认定问题发生率。图表为原生对象，可在支持的演示应用中编辑数据。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表格是原生对象。这里没有填写每类问题的数量，避免把未经观察的分布写成测量结果。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流程为原生矩形、文字和连接线，不依赖位图。箭头只表达建议执行顺序；本轮没有实际邀请用户或执行实验。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批准建议属于虚构场景的演示结尾。最终选择必须由真实团队根据资源和观察作出；不承诺效率提升。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le=slide-title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0" rIns="0" tIns="27432" bIns="27432">
            <a:no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3600" b="1" lang="zh-CN">
                <a:solidFill>
                  <a:srgbClr val="183040"/>
                </a:solidFill>
                <a:latin typeface="PingFang SC"/>
                <a:ea typeface="PingFang SC"/>
              </a:rPr>
              <a:t>团队知识库试点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6309360"/>
            <a:ext cx="11064240" cy="0"/>
          </a:xfrm>
          <a:prstGeom prst="line">
            <a:avLst/>
          </a:prstGeom>
          <a:ln>
            <a:solidFill>
              <a:srgbClr val="D5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le=footnote"/>
          <p:cNvSpPr txBox="1"/>
          <p:nvPr/>
        </p:nvSpPr>
        <p:spPr>
          <a:xfrm>
            <a:off x="548640" y="6419088"/>
            <a:ext cx="9144000" cy="228600"/>
          </a:xfrm>
          <a:prstGeom prst="rect">
            <a:avLst/>
          </a:prstGeom>
          <a:noFill/>
        </p:spPr>
        <p:txBody>
          <a:bodyPr wrap="square" lIns="0" rIns="0" tIns="27432" bIns="27432">
            <a:no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00" b="0" lang="zh-CN">
                <a:solidFill>
                  <a:srgbClr val="526574"/>
                </a:solidFill>
                <a:latin typeface="PingFang SC"/>
                <a:ea typeface="PingFang SC"/>
              </a:rPr>
              <a:t>知识库试点汇报 · 原创演示案例 · 字体未嵌入</a:t>
            </a:r>
          </a:p>
        </p:txBody>
      </p:sp>
      <p:sp>
        <p:nvSpPr>
          <p:cNvPr id="5" name="role=page-number"/>
          <p:cNvSpPr txBox="1"/>
          <p:nvPr/>
        </p:nvSpPr>
        <p:spPr>
          <a:xfrm>
            <a:off x="10972800" y="6419088"/>
            <a:ext cx="640080" cy="228600"/>
          </a:xfrm>
          <a:prstGeom prst="rect">
            <a:avLst/>
          </a:prstGeom>
          <a:noFill/>
        </p:spPr>
        <p:txBody>
          <a:bodyPr wrap="square" lIns="0" rIns="0" tIns="27432" bIns="27432">
            <a:no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00" b="0" lang="zh-CN">
                <a:solidFill>
                  <a:srgbClr val="526574"/>
                </a:solidFill>
                <a:latin typeface="PingFang SC"/>
                <a:ea typeface="PingFang SC"/>
              </a:rPr>
              <a:t>1</a:t>
            </a:r>
          </a:p>
        </p:txBody>
      </p:sp>
      <p:sp>
        <p:nvSpPr>
          <p:cNvPr id="6" name="role=cover-title"/>
          <p:cNvSpPr txBox="1"/>
          <p:nvPr/>
        </p:nvSpPr>
        <p:spPr>
          <a:xfrm>
            <a:off x="548640" y="1828800"/>
            <a:ext cx="10789920" cy="1920240"/>
          </a:xfrm>
          <a:prstGeom prst="rect">
            <a:avLst/>
          </a:prstGeom>
          <a:noFill/>
        </p:spPr>
        <p:txBody>
          <a:bodyPr wrap="square" lIns="0" rIns="0" tIns="27432" bIns="27432">
            <a:no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4800" b="1" lang="zh-CN">
                <a:solidFill>
                  <a:srgbClr val="175BC2"/>
                </a:solidFill>
                <a:latin typeface="PingFang SC"/>
                <a:ea typeface="PingFang SC"/>
              </a:rPr>
              <a:t>先验证能否找到答案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4800" b="1" lang="zh-CN">
                <a:solidFill>
                  <a:srgbClr val="175BC2"/>
                </a:solidFill>
                <a:latin typeface="PingFang SC"/>
                <a:ea typeface="PingFang SC"/>
              </a:rPr>
              <a:t>再扩大知识库投入</a:t>
            </a:r>
          </a:p>
        </p:txBody>
      </p:sp>
      <p:sp>
        <p:nvSpPr>
          <p:cNvPr id="7" name="role=body"/>
          <p:cNvSpPr txBox="1"/>
          <p:nvPr/>
        </p:nvSpPr>
        <p:spPr>
          <a:xfrm>
            <a:off x="548640" y="4297680"/>
            <a:ext cx="10698480" cy="1280160"/>
          </a:xfrm>
          <a:prstGeom prst="rect">
            <a:avLst/>
          </a:prstGeom>
          <a:noFill/>
        </p:spPr>
        <p:txBody>
          <a:bodyPr wrap="square" lIns="0" rIns="0" tIns="27432" bIns="27432">
            <a:no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400" b="0" lang="zh-CN">
                <a:solidFill>
                  <a:srgbClr val="183040"/>
                </a:solidFill>
                <a:latin typeface="PingFang SC"/>
                <a:ea typeface="PingFang SC"/>
              </a:rPr>
              <a:t>管理层汇报 · 6 页 / 8 分钟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400" b="0" lang="zh-CN">
                <a:solidFill>
                  <a:srgbClr val="183040"/>
                </a:solidFill>
                <a:latin typeface="PingFang SC"/>
                <a:ea typeface="PingFang SC"/>
              </a:rPr>
              <a:t>原创虚构场景：一个 20 人团队，先做两周试点。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le=slide-title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0" rIns="0" tIns="27432" bIns="27432">
            <a:no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3600" b="1" lang="zh-CN">
                <a:solidFill>
                  <a:srgbClr val="183040"/>
                </a:solidFill>
                <a:latin typeface="PingFang SC"/>
                <a:ea typeface="PingFang SC"/>
              </a:rPr>
              <a:t>试点只回答一个问题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6309360"/>
            <a:ext cx="11064240" cy="0"/>
          </a:xfrm>
          <a:prstGeom prst="line">
            <a:avLst/>
          </a:prstGeom>
          <a:ln>
            <a:solidFill>
              <a:srgbClr val="D5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le=footnote"/>
          <p:cNvSpPr txBox="1"/>
          <p:nvPr/>
        </p:nvSpPr>
        <p:spPr>
          <a:xfrm>
            <a:off x="548640" y="6419088"/>
            <a:ext cx="9144000" cy="228600"/>
          </a:xfrm>
          <a:prstGeom prst="rect">
            <a:avLst/>
          </a:prstGeom>
          <a:noFill/>
        </p:spPr>
        <p:txBody>
          <a:bodyPr wrap="square" lIns="0" rIns="0" tIns="27432" bIns="27432">
            <a:no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00" b="0" lang="zh-CN">
                <a:solidFill>
                  <a:srgbClr val="526574"/>
                </a:solidFill>
                <a:latin typeface="PingFang SC"/>
                <a:ea typeface="PingFang SC"/>
              </a:rPr>
              <a:t>知识库试点汇报 · 原创演示案例 · 字体未嵌入</a:t>
            </a:r>
          </a:p>
        </p:txBody>
      </p:sp>
      <p:sp>
        <p:nvSpPr>
          <p:cNvPr id="5" name="role=page-number"/>
          <p:cNvSpPr txBox="1"/>
          <p:nvPr/>
        </p:nvSpPr>
        <p:spPr>
          <a:xfrm>
            <a:off x="10972800" y="6419088"/>
            <a:ext cx="640080" cy="228600"/>
          </a:xfrm>
          <a:prstGeom prst="rect">
            <a:avLst/>
          </a:prstGeom>
          <a:noFill/>
        </p:spPr>
        <p:txBody>
          <a:bodyPr wrap="square" lIns="0" rIns="0" tIns="27432" bIns="27432">
            <a:no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00" b="0" lang="zh-CN">
                <a:solidFill>
                  <a:srgbClr val="526574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6" name="role=key-message"/>
          <p:cNvSpPr txBox="1"/>
          <p:nvPr/>
        </p:nvSpPr>
        <p:spPr>
          <a:xfrm>
            <a:off x="548640" y="1508760"/>
            <a:ext cx="10972800" cy="914400"/>
          </a:xfrm>
          <a:prstGeom prst="rect">
            <a:avLst/>
          </a:prstGeom>
          <a:noFill/>
        </p:spPr>
        <p:txBody>
          <a:bodyPr wrap="square" lIns="0" rIns="0" tIns="27432" bIns="27432">
            <a:no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800" b="0" lang="zh-CN">
                <a:solidFill>
                  <a:srgbClr val="175BC2"/>
                </a:solidFill>
                <a:latin typeface="PingFang SC"/>
                <a:ea typeface="PingFang SC"/>
              </a:rPr>
              <a:t>成员能否找到可追溯的工作答案？</a:t>
            </a:r>
          </a:p>
        </p:txBody>
      </p:sp>
      <p:sp>
        <p:nvSpPr>
          <p:cNvPr id="7" name="role=module-title"/>
          <p:cNvSpPr txBox="1"/>
          <p:nvPr/>
        </p:nvSpPr>
        <p:spPr>
          <a:xfrm>
            <a:off x="548640" y="2743200"/>
            <a:ext cx="2743200" cy="548640"/>
          </a:xfrm>
          <a:prstGeom prst="rect">
            <a:avLst/>
          </a:prstGeom>
          <a:noFill/>
        </p:spPr>
        <p:txBody>
          <a:bodyPr wrap="square" lIns="0" rIns="0" tIns="27432" bIns="27432">
            <a:no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200" b="1" lang="zh-CN">
                <a:solidFill>
                  <a:srgbClr val="183040"/>
                </a:solidFill>
                <a:latin typeface="PingFang SC"/>
                <a:ea typeface="PingFang SC"/>
              </a:rPr>
              <a:t>对象</a:t>
            </a:r>
          </a:p>
        </p:txBody>
      </p:sp>
      <p:sp>
        <p:nvSpPr>
          <p:cNvPr id="8" name="role=body"/>
          <p:cNvSpPr txBox="1"/>
          <p:nvPr/>
        </p:nvSpPr>
        <p:spPr>
          <a:xfrm>
            <a:off x="3566160" y="2743200"/>
            <a:ext cx="8046720" cy="777240"/>
          </a:xfrm>
          <a:prstGeom prst="rect">
            <a:avLst/>
          </a:prstGeom>
          <a:noFill/>
        </p:spPr>
        <p:txBody>
          <a:bodyPr wrap="square" lIns="0" rIns="0" tIns="27432" bIns="27432">
            <a:no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200" b="0" lang="zh-CN">
                <a:solidFill>
                  <a:srgbClr val="183040"/>
                </a:solidFill>
                <a:latin typeface="PingFang SC"/>
                <a:ea typeface="PingFang SC"/>
              </a:rPr>
              <a:t>20 人团队；从入职流程与常见操作问题开始。</a:t>
            </a:r>
          </a:p>
        </p:txBody>
      </p:sp>
      <p:sp>
        <p:nvSpPr>
          <p:cNvPr id="9" name="role=module-title"/>
          <p:cNvSpPr txBox="1"/>
          <p:nvPr/>
        </p:nvSpPr>
        <p:spPr>
          <a:xfrm>
            <a:off x="548640" y="3794760"/>
            <a:ext cx="2743200" cy="548640"/>
          </a:xfrm>
          <a:prstGeom prst="rect">
            <a:avLst/>
          </a:prstGeom>
          <a:noFill/>
        </p:spPr>
        <p:txBody>
          <a:bodyPr wrap="square" lIns="0" rIns="0" tIns="27432" bIns="27432">
            <a:no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200" b="1" lang="zh-CN">
                <a:solidFill>
                  <a:srgbClr val="183040"/>
                </a:solidFill>
                <a:latin typeface="PingFang SC"/>
                <a:ea typeface="PingFang SC"/>
              </a:rPr>
              <a:t>范围</a:t>
            </a:r>
          </a:p>
        </p:txBody>
      </p:sp>
      <p:sp>
        <p:nvSpPr>
          <p:cNvPr id="10" name="role=body"/>
          <p:cNvSpPr txBox="1"/>
          <p:nvPr/>
        </p:nvSpPr>
        <p:spPr>
          <a:xfrm>
            <a:off x="3566160" y="3794760"/>
            <a:ext cx="8046720" cy="777240"/>
          </a:xfrm>
          <a:prstGeom prst="rect">
            <a:avLst/>
          </a:prstGeom>
          <a:noFill/>
        </p:spPr>
        <p:txBody>
          <a:bodyPr wrap="square" lIns="0" rIns="0" tIns="27432" bIns="27432">
            <a:no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200" b="0" lang="zh-CN">
                <a:solidFill>
                  <a:srgbClr val="183040"/>
                </a:solidFill>
                <a:latin typeface="PingFang SC"/>
                <a:ea typeface="PingFang SC"/>
              </a:rPr>
              <a:t>整理 30 条常见问题，保留答案来源和更新时间。</a:t>
            </a:r>
          </a:p>
        </p:txBody>
      </p:sp>
      <p:sp>
        <p:nvSpPr>
          <p:cNvPr id="11" name="role=module-title"/>
          <p:cNvSpPr txBox="1"/>
          <p:nvPr/>
        </p:nvSpPr>
        <p:spPr>
          <a:xfrm>
            <a:off x="548640" y="4846320"/>
            <a:ext cx="2743200" cy="548640"/>
          </a:xfrm>
          <a:prstGeom prst="rect">
            <a:avLst/>
          </a:prstGeom>
          <a:noFill/>
        </p:spPr>
        <p:txBody>
          <a:bodyPr wrap="square" lIns="0" rIns="0" tIns="27432" bIns="27432">
            <a:no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200" b="1" lang="zh-CN">
                <a:solidFill>
                  <a:srgbClr val="183040"/>
                </a:solidFill>
                <a:latin typeface="PingFang SC"/>
                <a:ea typeface="PingFang SC"/>
              </a:rPr>
              <a:t>边界</a:t>
            </a:r>
          </a:p>
        </p:txBody>
      </p:sp>
      <p:sp>
        <p:nvSpPr>
          <p:cNvPr id="12" name="role=body"/>
          <p:cNvSpPr txBox="1"/>
          <p:nvPr/>
        </p:nvSpPr>
        <p:spPr>
          <a:xfrm>
            <a:off x="3566160" y="4846320"/>
            <a:ext cx="8046720" cy="777240"/>
          </a:xfrm>
          <a:prstGeom prst="rect">
            <a:avLst/>
          </a:prstGeom>
          <a:noFill/>
        </p:spPr>
        <p:txBody>
          <a:bodyPr wrap="square" lIns="0" rIns="0" tIns="27432" bIns="27432">
            <a:no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200" b="0" lang="zh-CN">
                <a:solidFill>
                  <a:srgbClr val="183040"/>
                </a:solidFill>
                <a:latin typeface="PingFang SC"/>
                <a:ea typeface="PingFang SC"/>
              </a:rPr>
              <a:t>先人工检索，不把新模型或自动化列为前提。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le=slide-title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0" rIns="0" tIns="27432" bIns="27432">
            <a:no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3600" b="1" lang="zh-CN">
                <a:solidFill>
                  <a:srgbClr val="183040"/>
                </a:solidFill>
                <a:latin typeface="PingFang SC"/>
                <a:ea typeface="PingFang SC"/>
              </a:rPr>
              <a:t>入口问题值得先检查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6309360"/>
            <a:ext cx="11064240" cy="0"/>
          </a:xfrm>
          <a:prstGeom prst="line">
            <a:avLst/>
          </a:prstGeom>
          <a:ln>
            <a:solidFill>
              <a:srgbClr val="D5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le=footnote"/>
          <p:cNvSpPr txBox="1"/>
          <p:nvPr/>
        </p:nvSpPr>
        <p:spPr>
          <a:xfrm>
            <a:off x="548640" y="6419088"/>
            <a:ext cx="9144000" cy="228600"/>
          </a:xfrm>
          <a:prstGeom prst="rect">
            <a:avLst/>
          </a:prstGeom>
          <a:noFill/>
        </p:spPr>
        <p:txBody>
          <a:bodyPr wrap="square" lIns="0" rIns="0" tIns="27432" bIns="27432">
            <a:no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00" b="0" lang="zh-CN">
                <a:solidFill>
                  <a:srgbClr val="526574"/>
                </a:solidFill>
                <a:latin typeface="PingFang SC"/>
                <a:ea typeface="PingFang SC"/>
              </a:rPr>
              <a:t>知识库试点汇报 · 原创演示案例 · 字体未嵌入</a:t>
            </a:r>
          </a:p>
        </p:txBody>
      </p:sp>
      <p:sp>
        <p:nvSpPr>
          <p:cNvPr id="5" name="role=page-number"/>
          <p:cNvSpPr txBox="1"/>
          <p:nvPr/>
        </p:nvSpPr>
        <p:spPr>
          <a:xfrm>
            <a:off x="10972800" y="6419088"/>
            <a:ext cx="640080" cy="228600"/>
          </a:xfrm>
          <a:prstGeom prst="rect">
            <a:avLst/>
          </a:prstGeom>
          <a:noFill/>
        </p:spPr>
        <p:txBody>
          <a:bodyPr wrap="square" lIns="0" rIns="0" tIns="27432" bIns="27432">
            <a:no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00" b="0" lang="zh-CN">
                <a:solidFill>
                  <a:srgbClr val="526574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6" name="role=key-message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lIns="0" rIns="0" tIns="27432" bIns="27432">
            <a:no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400" b="0" lang="zh-CN">
                <a:solidFill>
                  <a:srgbClr val="175BC2"/>
                </a:solidFill>
                <a:latin typeface="PingFang SC"/>
                <a:ea typeface="PingFang SC"/>
              </a:rPr>
              <a:t>演示样本：20 次查找，其中 13 次找到可用答案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1965960"/>
          <a:ext cx="7315200" cy="3611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le=body"/>
          <p:cNvSpPr txBox="1"/>
          <p:nvPr/>
        </p:nvSpPr>
        <p:spPr>
          <a:xfrm>
            <a:off x="8229600" y="2194560"/>
            <a:ext cx="3337560" cy="3291840"/>
          </a:xfrm>
          <a:prstGeom prst="rect">
            <a:avLst/>
          </a:prstGeom>
          <a:noFill/>
        </p:spPr>
        <p:txBody>
          <a:bodyPr wrap="square" lIns="0" rIns="0" tIns="27432" bIns="27432">
            <a:no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200" b="0" lang="zh-CN">
                <a:solidFill>
                  <a:srgbClr val="183040"/>
                </a:solidFill>
                <a:latin typeface="PingFang SC"/>
                <a:ea typeface="PingFang SC"/>
              </a:rPr>
              <a:t>65% = 13 / 20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200" b="0" lang="zh-CN">
                <a:solidFill>
                  <a:srgbClr val="183040"/>
                </a:solidFill>
                <a:latin typeface="PingFang SC"/>
                <a:ea typeface="PingFang SC"/>
              </a:rPr>
              <a:t>35% = 7 / 20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200" b="0" lang="zh-CN">
                <a:solidFill>
                  <a:srgbClr val="183040"/>
                </a:solidFill>
                <a:latin typeface="PingFang SC"/>
                <a:ea typeface="PingFang SC"/>
              </a:rPr>
              <a:t/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200" b="0" lang="zh-CN">
                <a:solidFill>
                  <a:srgbClr val="183040"/>
                </a:solidFill>
                <a:latin typeface="PingFang SC"/>
                <a:ea typeface="PingFang SC"/>
              </a:rPr>
              <a:t>虚构数据，仅演示原生可编辑图表。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le=slide-title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0" rIns="0" tIns="27432" bIns="27432">
            <a:no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3600" b="1" lang="zh-CN">
                <a:solidFill>
                  <a:srgbClr val="183040"/>
                </a:solidFill>
                <a:latin typeface="PingFang SC"/>
                <a:ea typeface="PingFang SC"/>
              </a:rPr>
              <a:t>把失败转成可处理的事项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6309360"/>
            <a:ext cx="11064240" cy="0"/>
          </a:xfrm>
          <a:prstGeom prst="line">
            <a:avLst/>
          </a:prstGeom>
          <a:ln>
            <a:solidFill>
              <a:srgbClr val="D5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le=footnote"/>
          <p:cNvSpPr txBox="1"/>
          <p:nvPr/>
        </p:nvSpPr>
        <p:spPr>
          <a:xfrm>
            <a:off x="548640" y="6419088"/>
            <a:ext cx="9144000" cy="228600"/>
          </a:xfrm>
          <a:prstGeom prst="rect">
            <a:avLst/>
          </a:prstGeom>
          <a:noFill/>
        </p:spPr>
        <p:txBody>
          <a:bodyPr wrap="square" lIns="0" rIns="0" tIns="27432" bIns="27432">
            <a:no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00" b="0" lang="zh-CN">
                <a:solidFill>
                  <a:srgbClr val="526574"/>
                </a:solidFill>
                <a:latin typeface="PingFang SC"/>
                <a:ea typeface="PingFang SC"/>
              </a:rPr>
              <a:t>知识库试点汇报 · 原创演示案例 · 字体未嵌入</a:t>
            </a:r>
          </a:p>
        </p:txBody>
      </p:sp>
      <p:sp>
        <p:nvSpPr>
          <p:cNvPr id="5" name="role=page-number"/>
          <p:cNvSpPr txBox="1"/>
          <p:nvPr/>
        </p:nvSpPr>
        <p:spPr>
          <a:xfrm>
            <a:off x="10972800" y="6419088"/>
            <a:ext cx="640080" cy="228600"/>
          </a:xfrm>
          <a:prstGeom prst="rect">
            <a:avLst/>
          </a:prstGeom>
          <a:noFill/>
        </p:spPr>
        <p:txBody>
          <a:bodyPr wrap="square" lIns="0" rIns="0" tIns="27432" bIns="27432">
            <a:no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00" b="0" lang="zh-CN">
                <a:solidFill>
                  <a:srgbClr val="526574"/>
                </a:solidFill>
                <a:latin typeface="PingFang SC"/>
                <a:ea typeface="PingFang SC"/>
              </a:rPr>
              <a:t>4</a:t>
            </a:r>
          </a:p>
        </p:txBody>
      </p:sp>
      <p:sp>
        <p:nvSpPr>
          <p:cNvPr id="6" name="role=key-message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lIns="0" rIns="0" tIns="27432" bIns="27432">
            <a:no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400" b="0" lang="zh-CN">
                <a:solidFill>
                  <a:srgbClr val="175BC2"/>
                </a:solidFill>
                <a:latin typeface="PingFang SC"/>
                <a:ea typeface="PingFang SC"/>
              </a:rPr>
              <a:t>每种原因对应一个动作与责任人</a:t>
            </a:r>
          </a:p>
        </p:txBody>
      </p:sp>
      <p:graphicFrame>
        <p:nvGraphicFramePr>
          <p:cNvPr id="7" name="role=table"/>
          <p:cNvGraphicFramePr>
            <a:graphicFrameLocks noGrp="1"/>
          </p:cNvGraphicFramePr>
          <p:nvPr/>
        </p:nvGraphicFramePr>
        <p:xfrm>
          <a:off x="548640" y="1920240"/>
          <a:ext cx="11064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800100">
                <a:tc>
                  <a:txBody>
                    <a:bodyPr/>
                    <a:lstStyle/>
                    <a:p>
                      <a:r>
                        <a:rPr sz="20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演示分类</a:t>
                      </a:r>
                    </a:p>
                  </a:txBody>
                  <a:tcPr marL="164592" marT="128016">
                    <a:solidFill>
                      <a:srgbClr val="175BC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拟采取的动作</a:t>
                      </a:r>
                    </a:p>
                  </a:txBody>
                  <a:tcPr marL="164592" marT="128016">
                    <a:solidFill>
                      <a:srgbClr val="175BC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负责人角色</a:t>
                      </a:r>
                    </a:p>
                  </a:txBody>
                  <a:tcPr marL="164592" marT="128016">
                    <a:solidFill>
                      <a:srgbClr val="175BC2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2000" b="0" lang="zh-CN">
                          <a:solidFill>
                            <a:srgbClr val="183040"/>
                          </a:solidFill>
                          <a:latin typeface="PingFang SC"/>
                          <a:ea typeface="PingFang SC"/>
                        </a:rPr>
                        <a:t>入口分散</a:t>
                      </a:r>
                    </a:p>
                  </a:txBody>
                  <a:tcPr marL="164592" marT="128016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 lang="zh-CN">
                          <a:solidFill>
                            <a:srgbClr val="183040"/>
                          </a:solidFill>
                          <a:latin typeface="PingFang SC"/>
                          <a:ea typeface="PingFang SC"/>
                        </a:rPr>
                        <a:t>统一常见问题入口</a:t>
                      </a:r>
                    </a:p>
                  </a:txBody>
                  <a:tcPr marL="164592" marT="128016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 lang="zh-CN">
                          <a:solidFill>
                            <a:srgbClr val="183040"/>
                          </a:solidFill>
                          <a:latin typeface="PingFang SC"/>
                          <a:ea typeface="PingFang SC"/>
                        </a:rPr>
                        <a:t>试点协调人</a:t>
                      </a:r>
                    </a:p>
                  </a:txBody>
                  <a:tcPr marL="164592" marT="128016">
                    <a:solidFill>
                      <a:srgbClr val="EEF4FA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2000" b="0" lang="zh-CN">
                          <a:solidFill>
                            <a:srgbClr val="183040"/>
                          </a:solidFill>
                          <a:latin typeface="PingFang SC"/>
                          <a:ea typeface="PingFang SC"/>
                        </a:rPr>
                        <a:t>来源过期</a:t>
                      </a:r>
                    </a:p>
                  </a:txBody>
                  <a:tcPr marL="164592" marT="1280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 lang="zh-CN">
                          <a:solidFill>
                            <a:srgbClr val="183040"/>
                          </a:solidFill>
                          <a:latin typeface="PingFang SC"/>
                          <a:ea typeface="PingFang SC"/>
                        </a:rPr>
                        <a:t>标记版本与维护日期</a:t>
                      </a:r>
                    </a:p>
                  </a:txBody>
                  <a:tcPr marL="164592" marT="1280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 lang="zh-CN">
                          <a:solidFill>
                            <a:srgbClr val="183040"/>
                          </a:solidFill>
                          <a:latin typeface="PingFang SC"/>
                          <a:ea typeface="PingFang SC"/>
                        </a:rPr>
                        <a:t>资料维护人</a:t>
                      </a:r>
                    </a:p>
                  </a:txBody>
                  <a:tcPr marL="164592" marT="128016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2000" b="0" lang="zh-CN">
                          <a:solidFill>
                            <a:srgbClr val="183040"/>
                          </a:solidFill>
                          <a:latin typeface="PingFang SC"/>
                          <a:ea typeface="PingFang SC"/>
                        </a:rPr>
                        <a:t>答案缺失</a:t>
                      </a:r>
                    </a:p>
                  </a:txBody>
                  <a:tcPr marL="164592" marT="128016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 lang="zh-CN">
                          <a:solidFill>
                            <a:srgbClr val="183040"/>
                          </a:solidFill>
                          <a:latin typeface="PingFang SC"/>
                          <a:ea typeface="PingFang SC"/>
                        </a:rPr>
                        <a:t>保留未解决问题队列</a:t>
                      </a:r>
                    </a:p>
                  </a:txBody>
                  <a:tcPr marL="164592" marT="128016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 lang="zh-CN">
                          <a:solidFill>
                            <a:srgbClr val="183040"/>
                          </a:solidFill>
                          <a:latin typeface="PingFang SC"/>
                          <a:ea typeface="PingFang SC"/>
                        </a:rPr>
                        <a:t>领域负责人</a:t>
                      </a:r>
                    </a:p>
                  </a:txBody>
                  <a:tcPr marL="164592" marT="128016">
                    <a:solidFill>
                      <a:srgbClr val="EEF4FA"/>
                    </a:solidFill>
                  </a:tcPr>
                </a:tc>
              </a:tr>
            </a:tbl>
          </a:graphicData>
        </a:graphic>
      </p:graphicFrame>
      <p:sp>
        <p:nvSpPr>
          <p:cNvPr id="8" name="role=body"/>
          <p:cNvSpPr txBox="1"/>
          <p:nvPr/>
        </p:nvSpPr>
        <p:spPr>
          <a:xfrm>
            <a:off x="548640" y="5394960"/>
            <a:ext cx="10972800" cy="548640"/>
          </a:xfrm>
          <a:prstGeom prst="rect">
            <a:avLst/>
          </a:prstGeom>
          <a:noFill/>
        </p:spPr>
        <p:txBody>
          <a:bodyPr wrap="square" lIns="0" rIns="0" tIns="27432" bIns="27432">
            <a:no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0" lang="zh-CN">
                <a:solidFill>
                  <a:srgbClr val="526574"/>
                </a:solidFill>
                <a:latin typeface="PingFang SC"/>
                <a:ea typeface="PingFang SC"/>
              </a:rPr>
              <a:t>分类来自虚构场景；实际分布需要在试点中记录。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le=slide-title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0" rIns="0" tIns="27432" bIns="27432">
            <a:no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3600" b="1" lang="zh-CN">
                <a:solidFill>
                  <a:srgbClr val="183040"/>
                </a:solidFill>
                <a:latin typeface="PingFang SC"/>
                <a:ea typeface="PingFang SC"/>
              </a:rPr>
              <a:t>两周试点先跑通人工闭环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6309360"/>
            <a:ext cx="11064240" cy="0"/>
          </a:xfrm>
          <a:prstGeom prst="line">
            <a:avLst/>
          </a:prstGeom>
          <a:ln>
            <a:solidFill>
              <a:srgbClr val="D5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le=footnote"/>
          <p:cNvSpPr txBox="1"/>
          <p:nvPr/>
        </p:nvSpPr>
        <p:spPr>
          <a:xfrm>
            <a:off x="548640" y="6419088"/>
            <a:ext cx="9144000" cy="228600"/>
          </a:xfrm>
          <a:prstGeom prst="rect">
            <a:avLst/>
          </a:prstGeom>
          <a:noFill/>
        </p:spPr>
        <p:txBody>
          <a:bodyPr wrap="square" lIns="0" rIns="0" tIns="27432" bIns="27432">
            <a:no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00" b="0" lang="zh-CN">
                <a:solidFill>
                  <a:srgbClr val="526574"/>
                </a:solidFill>
                <a:latin typeface="PingFang SC"/>
                <a:ea typeface="PingFang SC"/>
              </a:rPr>
              <a:t>知识库试点汇报 · 原创演示案例 · 字体未嵌入</a:t>
            </a:r>
          </a:p>
        </p:txBody>
      </p:sp>
      <p:sp>
        <p:nvSpPr>
          <p:cNvPr id="5" name="role=page-number"/>
          <p:cNvSpPr txBox="1"/>
          <p:nvPr/>
        </p:nvSpPr>
        <p:spPr>
          <a:xfrm>
            <a:off x="10972800" y="6419088"/>
            <a:ext cx="640080" cy="228600"/>
          </a:xfrm>
          <a:prstGeom prst="rect">
            <a:avLst/>
          </a:prstGeom>
          <a:noFill/>
        </p:spPr>
        <p:txBody>
          <a:bodyPr wrap="square" lIns="0" rIns="0" tIns="27432" bIns="27432">
            <a:no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00" b="0" lang="zh-CN">
                <a:solidFill>
                  <a:srgbClr val="526574"/>
                </a:solidFill>
                <a:latin typeface="PingFang SC"/>
                <a:ea typeface="PingFang SC"/>
              </a:rPr>
              <a:t>5</a:t>
            </a:r>
          </a:p>
        </p:txBody>
      </p:sp>
      <p:sp>
        <p:nvSpPr>
          <p:cNvPr id="6" name="role=key-message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lIns="0" rIns="0" tIns="27432" bIns="27432">
            <a:no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400" b="0" lang="zh-CN">
                <a:solidFill>
                  <a:srgbClr val="175BC2"/>
                </a:solidFill>
                <a:latin typeface="PingFang SC"/>
                <a:ea typeface="PingFang SC"/>
              </a:rPr>
              <a:t>从真实问题出发，保留每次查找的结果</a:t>
            </a:r>
          </a:p>
        </p:txBody>
      </p:sp>
      <p:sp>
        <p:nvSpPr>
          <p:cNvPr id="7" name="role=node;group=flow;index=0"/>
          <p:cNvSpPr/>
          <p:nvPr/>
        </p:nvSpPr>
        <p:spPr>
          <a:xfrm>
            <a:off x="548640" y="2423160"/>
            <a:ext cx="2457450" cy="1005840"/>
          </a:xfrm>
          <a:prstGeom prst="rect">
            <a:avLst/>
          </a:prstGeom>
          <a:solidFill>
            <a:srgbClr val="EE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le=diagram-node"/>
          <p:cNvSpPr txBox="1"/>
          <p:nvPr/>
        </p:nvSpPr>
        <p:spPr>
          <a:xfrm>
            <a:off x="640080" y="2624328"/>
            <a:ext cx="2274570" cy="548640"/>
          </a:xfrm>
          <a:prstGeom prst="rect">
            <a:avLst/>
          </a:prstGeom>
          <a:noFill/>
        </p:spPr>
        <p:txBody>
          <a:bodyPr wrap="square" lIns="0" rIns="0" tIns="27432" bIns="27432">
            <a:no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 lang="zh-CN">
                <a:solidFill>
                  <a:srgbClr val="175BC2"/>
                </a:solidFill>
                <a:latin typeface="PingFang SC"/>
                <a:ea typeface="PingFang SC"/>
              </a:rPr>
              <a:t>收集问题</a:t>
            </a:r>
          </a:p>
        </p:txBody>
      </p:sp>
      <p:sp>
        <p:nvSpPr>
          <p:cNvPr id="9" name="role=node;group=flow;index=1"/>
          <p:cNvSpPr/>
          <p:nvPr/>
        </p:nvSpPr>
        <p:spPr>
          <a:xfrm>
            <a:off x="3417570" y="2423160"/>
            <a:ext cx="2457450" cy="1005840"/>
          </a:xfrm>
          <a:prstGeom prst="rect">
            <a:avLst/>
          </a:prstGeom>
          <a:solidFill>
            <a:srgbClr val="EE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le=diagram-node"/>
          <p:cNvSpPr txBox="1"/>
          <p:nvPr/>
        </p:nvSpPr>
        <p:spPr>
          <a:xfrm>
            <a:off x="3509010" y="2624328"/>
            <a:ext cx="2274570" cy="548640"/>
          </a:xfrm>
          <a:prstGeom prst="rect">
            <a:avLst/>
          </a:prstGeom>
          <a:noFill/>
        </p:spPr>
        <p:txBody>
          <a:bodyPr wrap="square" lIns="0" rIns="0" tIns="27432" bIns="27432">
            <a:no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 lang="zh-CN">
                <a:solidFill>
                  <a:srgbClr val="175BC2"/>
                </a:solidFill>
                <a:latin typeface="PingFang SC"/>
                <a:ea typeface="PingFang SC"/>
              </a:rPr>
              <a:t>核对来源</a:t>
            </a:r>
          </a:p>
        </p:txBody>
      </p:sp>
      <p:cxnSp>
        <p:nvCxnSpPr>
          <p:cNvPr id="11" name="role=connector;group=flow"/>
          <p:cNvCxnSpPr/>
          <p:nvPr/>
        </p:nvCxnSpPr>
        <p:spPr>
          <a:xfrm>
            <a:off x="3006090" y="2926080"/>
            <a:ext cx="411480" cy="0"/>
          </a:xfrm>
          <a:prstGeom prst="line">
            <a:avLst/>
          </a:prstGeom>
          <a:ln>
            <a:solidFill>
              <a:srgbClr val="175BC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le=node;group=flow;index=2"/>
          <p:cNvSpPr/>
          <p:nvPr/>
        </p:nvSpPr>
        <p:spPr>
          <a:xfrm>
            <a:off x="6286500" y="2423160"/>
            <a:ext cx="2457450" cy="1005840"/>
          </a:xfrm>
          <a:prstGeom prst="rect">
            <a:avLst/>
          </a:prstGeom>
          <a:solidFill>
            <a:srgbClr val="EE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le=diagram-node"/>
          <p:cNvSpPr txBox="1"/>
          <p:nvPr/>
        </p:nvSpPr>
        <p:spPr>
          <a:xfrm>
            <a:off x="6377940" y="2624328"/>
            <a:ext cx="2274570" cy="548640"/>
          </a:xfrm>
          <a:prstGeom prst="rect">
            <a:avLst/>
          </a:prstGeom>
          <a:noFill/>
        </p:spPr>
        <p:txBody>
          <a:bodyPr wrap="square" lIns="0" rIns="0" tIns="27432" bIns="27432">
            <a:no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 lang="zh-CN">
                <a:solidFill>
                  <a:srgbClr val="175BC2"/>
                </a:solidFill>
                <a:latin typeface="PingFang SC"/>
                <a:ea typeface="PingFang SC"/>
              </a:rPr>
              <a:t>邀请试用</a:t>
            </a:r>
          </a:p>
        </p:txBody>
      </p:sp>
      <p:cxnSp>
        <p:nvCxnSpPr>
          <p:cNvPr id="14" name="role=connector;group=flow"/>
          <p:cNvCxnSpPr/>
          <p:nvPr/>
        </p:nvCxnSpPr>
        <p:spPr>
          <a:xfrm>
            <a:off x="5875020" y="2926080"/>
            <a:ext cx="411480" cy="0"/>
          </a:xfrm>
          <a:prstGeom prst="line">
            <a:avLst/>
          </a:prstGeom>
          <a:ln>
            <a:solidFill>
              <a:srgbClr val="175BC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le=node;group=flow;index=3"/>
          <p:cNvSpPr/>
          <p:nvPr/>
        </p:nvSpPr>
        <p:spPr>
          <a:xfrm>
            <a:off x="9155430" y="2423160"/>
            <a:ext cx="2457450" cy="1005840"/>
          </a:xfrm>
          <a:prstGeom prst="rect">
            <a:avLst/>
          </a:prstGeom>
          <a:solidFill>
            <a:srgbClr val="EE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le=diagram-node"/>
          <p:cNvSpPr txBox="1"/>
          <p:nvPr/>
        </p:nvSpPr>
        <p:spPr>
          <a:xfrm>
            <a:off x="9246870" y="2624328"/>
            <a:ext cx="2274570" cy="548640"/>
          </a:xfrm>
          <a:prstGeom prst="rect">
            <a:avLst/>
          </a:prstGeom>
          <a:noFill/>
        </p:spPr>
        <p:txBody>
          <a:bodyPr wrap="square" lIns="0" rIns="0" tIns="27432" bIns="27432">
            <a:no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 lang="zh-CN">
                <a:solidFill>
                  <a:srgbClr val="175BC2"/>
                </a:solidFill>
                <a:latin typeface="PingFang SC"/>
                <a:ea typeface="PingFang SC"/>
              </a:rPr>
              <a:t>记录失败</a:t>
            </a:r>
          </a:p>
        </p:txBody>
      </p:sp>
      <p:cxnSp>
        <p:nvCxnSpPr>
          <p:cNvPr id="17" name="role=connector;group=flow"/>
          <p:cNvCxnSpPr/>
          <p:nvPr/>
        </p:nvCxnSpPr>
        <p:spPr>
          <a:xfrm>
            <a:off x="8743950" y="2926080"/>
            <a:ext cx="411480" cy="0"/>
          </a:xfrm>
          <a:prstGeom prst="line">
            <a:avLst/>
          </a:prstGeom>
          <a:ln>
            <a:solidFill>
              <a:srgbClr val="175BC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le=body"/>
          <p:cNvSpPr txBox="1"/>
          <p:nvPr/>
        </p:nvSpPr>
        <p:spPr>
          <a:xfrm>
            <a:off x="548640" y="3977639"/>
            <a:ext cx="10972800" cy="1554480"/>
          </a:xfrm>
          <a:prstGeom prst="rect">
            <a:avLst/>
          </a:prstGeom>
          <a:noFill/>
        </p:spPr>
        <p:txBody>
          <a:bodyPr wrap="square" lIns="0" rIns="0" tIns="27432" bIns="27432">
            <a:no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400" b="0" lang="zh-CN">
                <a:solidFill>
                  <a:srgbClr val="183040"/>
                </a:solidFill>
                <a:latin typeface="PingFang SC"/>
                <a:ea typeface="PingFang SC"/>
              </a:rPr>
              <a:t>每次记录：问题、查找入口、答案来源、未解决原因。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400" b="0" lang="zh-CN">
                <a:solidFill>
                  <a:srgbClr val="183040"/>
                </a:solidFill>
                <a:latin typeface="PingFang SC"/>
                <a:ea typeface="PingFang SC"/>
              </a:rPr>
              <a:t>遇到缺失答案，回到资料维护环节。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le=slide-title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0" rIns="0" tIns="27432" bIns="27432">
            <a:no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3600" b="1" lang="zh-CN">
                <a:solidFill>
                  <a:srgbClr val="183040"/>
                </a:solidFill>
                <a:latin typeface="PingFang SC"/>
                <a:ea typeface="PingFang SC"/>
              </a:rPr>
              <a:t>本次需要决定试点资源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6309360"/>
            <a:ext cx="11064240" cy="0"/>
          </a:xfrm>
          <a:prstGeom prst="line">
            <a:avLst/>
          </a:prstGeom>
          <a:ln>
            <a:solidFill>
              <a:srgbClr val="D5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le=footnote"/>
          <p:cNvSpPr txBox="1"/>
          <p:nvPr/>
        </p:nvSpPr>
        <p:spPr>
          <a:xfrm>
            <a:off x="548640" y="6419088"/>
            <a:ext cx="9144000" cy="228600"/>
          </a:xfrm>
          <a:prstGeom prst="rect">
            <a:avLst/>
          </a:prstGeom>
          <a:noFill/>
        </p:spPr>
        <p:txBody>
          <a:bodyPr wrap="square" lIns="0" rIns="0" tIns="27432" bIns="27432">
            <a:no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00" b="0" lang="zh-CN">
                <a:solidFill>
                  <a:srgbClr val="526574"/>
                </a:solidFill>
                <a:latin typeface="PingFang SC"/>
                <a:ea typeface="PingFang SC"/>
              </a:rPr>
              <a:t>知识库试点汇报 · 原创演示案例 · 字体未嵌入</a:t>
            </a:r>
          </a:p>
        </p:txBody>
      </p:sp>
      <p:sp>
        <p:nvSpPr>
          <p:cNvPr id="5" name="role=page-number"/>
          <p:cNvSpPr txBox="1"/>
          <p:nvPr/>
        </p:nvSpPr>
        <p:spPr>
          <a:xfrm>
            <a:off x="10972800" y="6419088"/>
            <a:ext cx="640080" cy="228600"/>
          </a:xfrm>
          <a:prstGeom prst="rect">
            <a:avLst/>
          </a:prstGeom>
          <a:noFill/>
        </p:spPr>
        <p:txBody>
          <a:bodyPr wrap="square" lIns="0" rIns="0" tIns="27432" bIns="27432">
            <a:no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00" b="0" lang="zh-CN">
                <a:solidFill>
                  <a:srgbClr val="526574"/>
                </a:solidFill>
                <a:latin typeface="PingFang SC"/>
                <a:ea typeface="PingFang SC"/>
              </a:rPr>
              <a:t>6</a:t>
            </a:r>
          </a:p>
        </p:txBody>
      </p:sp>
      <p:sp>
        <p:nvSpPr>
          <p:cNvPr id="6" name="role=key-message"/>
          <p:cNvSpPr txBox="1"/>
          <p:nvPr/>
        </p:nvSpPr>
        <p:spPr>
          <a:xfrm>
            <a:off x="548640" y="1508760"/>
            <a:ext cx="10972800" cy="914400"/>
          </a:xfrm>
          <a:prstGeom prst="rect">
            <a:avLst/>
          </a:prstGeom>
          <a:noFill/>
        </p:spPr>
        <p:txBody>
          <a:bodyPr wrap="square" lIns="0" rIns="0" tIns="27432" bIns="27432">
            <a:no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800" b="0" lang="zh-CN">
                <a:solidFill>
                  <a:srgbClr val="175BC2"/>
                </a:solidFill>
                <a:latin typeface="PingFang SC"/>
                <a:ea typeface="PingFang SC"/>
              </a:rPr>
              <a:t>建议先批准两周人工试点</a:t>
            </a:r>
          </a:p>
        </p:txBody>
      </p:sp>
      <p:sp>
        <p:nvSpPr>
          <p:cNvPr id="7" name="role=module-title"/>
          <p:cNvSpPr txBox="1"/>
          <p:nvPr/>
        </p:nvSpPr>
        <p:spPr>
          <a:xfrm>
            <a:off x="548640" y="2743200"/>
            <a:ext cx="2743200" cy="548640"/>
          </a:xfrm>
          <a:prstGeom prst="rect">
            <a:avLst/>
          </a:prstGeom>
          <a:noFill/>
        </p:spPr>
        <p:txBody>
          <a:bodyPr wrap="square" lIns="0" rIns="0" tIns="27432" bIns="27432">
            <a:no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200" b="1" lang="zh-CN">
                <a:solidFill>
                  <a:srgbClr val="183040"/>
                </a:solidFill>
                <a:latin typeface="PingFang SC"/>
                <a:ea typeface="PingFang SC"/>
              </a:rPr>
              <a:t>资源</a:t>
            </a:r>
          </a:p>
        </p:txBody>
      </p:sp>
      <p:sp>
        <p:nvSpPr>
          <p:cNvPr id="8" name="role=body"/>
          <p:cNvSpPr txBox="1"/>
          <p:nvPr/>
        </p:nvSpPr>
        <p:spPr>
          <a:xfrm>
            <a:off x="3566160" y="2743200"/>
            <a:ext cx="8046720" cy="777240"/>
          </a:xfrm>
          <a:prstGeom prst="rect">
            <a:avLst/>
          </a:prstGeom>
          <a:noFill/>
        </p:spPr>
        <p:txBody>
          <a:bodyPr wrap="square" lIns="0" rIns="0" tIns="27432" bIns="27432">
            <a:no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200" b="0" lang="zh-CN">
                <a:solidFill>
                  <a:srgbClr val="183040"/>
                </a:solidFill>
                <a:latin typeface="PingFang SC"/>
                <a:ea typeface="PingFang SC"/>
              </a:rPr>
              <a:t>一名协调人；每个领域明确一名资料维护人。</a:t>
            </a:r>
          </a:p>
        </p:txBody>
      </p:sp>
      <p:sp>
        <p:nvSpPr>
          <p:cNvPr id="9" name="role=module-title"/>
          <p:cNvSpPr txBox="1"/>
          <p:nvPr/>
        </p:nvSpPr>
        <p:spPr>
          <a:xfrm>
            <a:off x="548640" y="3794760"/>
            <a:ext cx="2743200" cy="548640"/>
          </a:xfrm>
          <a:prstGeom prst="rect">
            <a:avLst/>
          </a:prstGeom>
          <a:noFill/>
        </p:spPr>
        <p:txBody>
          <a:bodyPr wrap="square" lIns="0" rIns="0" tIns="27432" bIns="27432">
            <a:no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200" b="1" lang="zh-CN">
                <a:solidFill>
                  <a:srgbClr val="183040"/>
                </a:solidFill>
                <a:latin typeface="PingFang SC"/>
                <a:ea typeface="PingFang SC"/>
              </a:rPr>
              <a:t>观察</a:t>
            </a:r>
          </a:p>
        </p:txBody>
      </p:sp>
      <p:sp>
        <p:nvSpPr>
          <p:cNvPr id="10" name="role=body"/>
          <p:cNvSpPr txBox="1"/>
          <p:nvPr/>
        </p:nvSpPr>
        <p:spPr>
          <a:xfrm>
            <a:off x="3566160" y="3794760"/>
            <a:ext cx="8046720" cy="777240"/>
          </a:xfrm>
          <a:prstGeom prst="rect">
            <a:avLst/>
          </a:prstGeom>
          <a:noFill/>
        </p:spPr>
        <p:txBody>
          <a:bodyPr wrap="square" lIns="0" rIns="0" tIns="27432" bIns="27432">
            <a:no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200" b="0" lang="zh-CN">
                <a:solidFill>
                  <a:srgbClr val="183040"/>
                </a:solidFill>
                <a:latin typeface="PingFang SC"/>
                <a:ea typeface="PingFang SC"/>
              </a:rPr>
              <a:t>能否找到答案、能否核对来源、为何中途放弃。</a:t>
            </a:r>
          </a:p>
        </p:txBody>
      </p:sp>
      <p:sp>
        <p:nvSpPr>
          <p:cNvPr id="11" name="role=module-title"/>
          <p:cNvSpPr txBox="1"/>
          <p:nvPr/>
        </p:nvSpPr>
        <p:spPr>
          <a:xfrm>
            <a:off x="548640" y="4846320"/>
            <a:ext cx="2743200" cy="548640"/>
          </a:xfrm>
          <a:prstGeom prst="rect">
            <a:avLst/>
          </a:prstGeom>
          <a:noFill/>
        </p:spPr>
        <p:txBody>
          <a:bodyPr wrap="square" lIns="0" rIns="0" tIns="27432" bIns="27432">
            <a:no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200" b="1" lang="zh-CN">
                <a:solidFill>
                  <a:srgbClr val="183040"/>
                </a:solidFill>
                <a:latin typeface="PingFang SC"/>
                <a:ea typeface="PingFang SC"/>
              </a:rPr>
              <a:t>下一步</a:t>
            </a:r>
          </a:p>
        </p:txBody>
      </p:sp>
      <p:sp>
        <p:nvSpPr>
          <p:cNvPr id="12" name="role=body"/>
          <p:cNvSpPr txBox="1"/>
          <p:nvPr/>
        </p:nvSpPr>
        <p:spPr>
          <a:xfrm>
            <a:off x="3566160" y="4846320"/>
            <a:ext cx="8046720" cy="777240"/>
          </a:xfrm>
          <a:prstGeom prst="rect">
            <a:avLst/>
          </a:prstGeom>
          <a:noFill/>
        </p:spPr>
        <p:txBody>
          <a:bodyPr wrap="square" lIns="0" rIns="0" tIns="27432" bIns="27432">
            <a:no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200" b="0" lang="zh-CN">
                <a:solidFill>
                  <a:srgbClr val="183040"/>
                </a:solidFill>
                <a:latin typeface="PingFang SC"/>
                <a:ea typeface="PingFang SC"/>
              </a:rPr>
              <a:t>根据实际记录，决定先补资料还是引入检索工具。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